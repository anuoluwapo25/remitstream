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949440" y="-2194560"/>
            <a:ext cx="7772400" cy="7772400"/>
          </a:xfrm>
          <a:prstGeom prst="ellipse">
            <a:avLst/>
          </a:prstGeom>
          <a:solidFill>
            <a:srgbClr val="14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93C5FD"/>
                </a:solidFill>
                <a:latin typeface="Helvetica Neue"/>
              </a:rPr>
              <a:t>BUILT ON STELLAR · SOROBAN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78638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1F5F9"/>
                </a:solidFill>
                <a:latin typeface="Helvetica Neue"/>
              </a:rPr>
              <a:t>RemitStream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500" b="0">
                <a:solidFill>
                  <a:srgbClr val="93C5FD"/>
                </a:solidFill>
                <a:latin typeface="Helvetica Neue"/>
              </a:rPr>
              <a:t>Send money home. Grow it while it waits.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24528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Helvetica Neue"/>
              </a:rPr>
              <a:t>Cross-border remittances that settle in seconds and save a slice of every transfer into an on-chain yield vault.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623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Helvetica Neue"/>
              </a:rPr>
              <a:t>remit-stream.vercel.app   ·   Stellar Testnet   ·   Level 5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93C5FD"/>
                </a:solidFill>
                <a:latin typeface="Helvetica Neue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F1F5F9"/>
                </a:solidFill>
                <a:latin typeface="Helvetica Neue"/>
              </a:rPr>
              <a:t>Two problems inside one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Helvetica Neue"/>
              </a:rPr>
              <a:t>Remittances are the largest financial flow into the developing world — and the least well served.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49424"/>
            <a:ext cx="2508427" cy="1170432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33272" y="2468880"/>
            <a:ext cx="20512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F1F5F9"/>
                </a:solidFill>
                <a:latin typeface="Helvetica Neue"/>
              </a:rPr>
              <a:t>$685B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96265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sent home by migrant workers each year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6835" y="2249424"/>
            <a:ext cx="2508427" cy="1170432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742867" y="2468880"/>
            <a:ext cx="20512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FB7185"/>
                </a:solidFill>
                <a:latin typeface="Helvetica Neue"/>
              </a:rPr>
              <a:t>6.4%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2867" y="296265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average cost of a $200 transfer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0" y="2249424"/>
            <a:ext cx="2508427" cy="1170432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52462" y="2468880"/>
            <a:ext cx="20512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FBBF24"/>
                </a:solidFill>
                <a:latin typeface="Helvetica Neue"/>
              </a:rPr>
              <a:t>1–5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2462" y="296265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typical settlement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025" y="2249424"/>
            <a:ext cx="2508427" cy="1170432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62057" y="2468880"/>
            <a:ext cx="20512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93C5FD"/>
                </a:solidFill>
                <a:latin typeface="Helvetica Neue"/>
              </a:rPr>
              <a:t>~50%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057" y="296265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of recipients have no savings product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31336"/>
            <a:ext cx="5181447" cy="196596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97280" y="4105656"/>
            <a:ext cx="4541367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1F5F9"/>
                </a:solidFill>
                <a:latin typeface="Helvetica Neue"/>
              </a:rPr>
              <a:t>1 · Getting the money there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94A3B8"/>
                </a:solidFill>
                <a:latin typeface="Helvetica Neue"/>
              </a:rPr>
              <a:t>A worker sending $200 home loses $13 to fees and waits days for it to arrive. Small, frequent transfers — the way people actually send — are the most expensive of all, because fees are largely fixed.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3831336"/>
            <a:ext cx="5181447" cy="196596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53047" y="4105656"/>
            <a:ext cx="4541367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1F5F9"/>
                </a:solidFill>
                <a:latin typeface="Helvetica Neue"/>
              </a:rPr>
              <a:t>2 · Keeping any of it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94A3B8"/>
                </a:solidFill>
                <a:latin typeface="Helvetica Neue"/>
              </a:rPr>
              <a:t>Money that arrives as cash gets spent as cash. Recipients in emerging markets rarely have access to a savings account, let alone one that earns yield. The transfer solves today and nothing else.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Helvetica Neue"/>
              </a:rPr>
              <a:t>Sources: World Bank Remittance Prices Worldwide; Global Findex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93C5FD"/>
                </a:solidFill>
                <a:latin typeface="Helvetica Neue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F1F5F9"/>
                </a:solidFill>
                <a:latin typeface="Helvetica Neue"/>
              </a:rPr>
              <a:t>A savings product inside the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Helvetica Neue"/>
              </a:rPr>
              <a:t>The recipient sets one rule — “always save 20%” — and every incoming remittance is split automatically, on-chain.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86584"/>
            <a:ext cx="2514600" cy="141732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5840" y="2660904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3B82F6"/>
                </a:solidFill>
                <a:latin typeface="Helvetica Neue"/>
              </a:rPr>
              <a:t>Sender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99816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pays once,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signs 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935224"/>
            <a:ext cx="19293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27334A"/>
                </a:solidFill>
                <a:latin typeface="Helvetica Neue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4778" y="2386584"/>
            <a:ext cx="2514600" cy="141732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13378" y="2660904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1F5F9"/>
                </a:solidFill>
                <a:latin typeface="Helvetica Neue"/>
              </a:rPr>
              <a:t>AutoSplitRouter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3378" y="3099816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applies the recipient's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own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9378" y="2935224"/>
            <a:ext cx="19293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27334A"/>
                </a:solidFill>
                <a:latin typeface="Helvetica Neue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316" y="2386584"/>
            <a:ext cx="2514600" cy="141732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20916" y="2660904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34D399"/>
                </a:solidFill>
                <a:latin typeface="Helvetica Neue"/>
              </a:rPr>
              <a:t>80% wallet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0916" y="3099816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spendable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immediately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6916" y="2935224"/>
            <a:ext cx="19293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27334A"/>
                </a:solidFill>
                <a:latin typeface="Helvetica Neue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99855" y="2386584"/>
            <a:ext cx="2514600" cy="141732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28455" y="2660904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93C5FD"/>
                </a:solidFill>
                <a:latin typeface="Helvetica Neue"/>
              </a:rPr>
              <a:t>20% vault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8455" y="3099816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earns yield,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withdraw anytime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425696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" y="4352544"/>
            <a:ext cx="10381183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F1F5F9"/>
                </a:solidFill>
                <a:latin typeface="Helvetica Neue"/>
              </a:rPr>
              <a:t>The recipient owns the rule. </a:t>
            </a:r>
            <a:r>
              <a:rPr sz="1500">
                <a:solidFill>
                  <a:srgbClr val="94A3B8"/>
                </a:solidFill>
                <a:latin typeface="Helvetica Neue"/>
              </a:rPr>
              <a:t>set_rule requires the recipient's own signature — a sender can never dictate how much someone else saves.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5084064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5010912"/>
            <a:ext cx="10381183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F1F5F9"/>
                </a:solidFill>
                <a:latin typeface="Helvetica Neue"/>
              </a:rPr>
              <a:t>One signature per remittance. </a:t>
            </a:r>
            <a:r>
              <a:rPr sz="1500">
                <a:solidFill>
                  <a:srgbClr val="94A3B8"/>
                </a:solidFill>
                <a:latin typeface="Helvetica Neue"/>
              </a:rPr>
              <a:t>The router pulls the full amount once and fans it out, so the sender approves a single transaction.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5742432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2" y="5669280"/>
            <a:ext cx="10381183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F1F5F9"/>
                </a:solidFill>
                <a:latin typeface="Helvetica Neue"/>
              </a:rPr>
              <a:t>Savings are never locked. </a:t>
            </a:r>
            <a:r>
              <a:rPr sz="1500">
                <a:solidFill>
                  <a:srgbClr val="94A3B8"/>
                </a:solidFill>
                <a:latin typeface="Helvetica Neue"/>
              </a:rPr>
              <a:t>Withdraw the full balance, yield included, at any moment.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93C5FD"/>
                </a:solidFill>
                <a:latin typeface="Helvetica Neue"/>
              </a:rPr>
              <a:t>WHY STELLAR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F1F5F9"/>
                </a:solidFill>
                <a:latin typeface="Helvetica Neue"/>
              </a:rPr>
              <a:t>Why this only works on Stellar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Helvetica Neue"/>
              </a:rPr>
              <a:t>The economics of the product depend on the economics of the rail.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49424"/>
            <a:ext cx="2508427" cy="1170432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33272" y="2468880"/>
            <a:ext cx="20512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34D399"/>
                </a:solidFill>
                <a:latin typeface="Helvetica Neue"/>
              </a:rPr>
              <a:t>~5 sec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96265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settlement, versus 1–5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6835" y="2249424"/>
            <a:ext cx="2508427" cy="1170432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742867" y="2468880"/>
            <a:ext cx="20512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34D399"/>
                </a:solidFill>
                <a:latin typeface="Helvetica Neue"/>
              </a:rPr>
              <a:t>$0.00001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2867" y="296265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network fee per transfer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0" y="2249424"/>
            <a:ext cx="2508427" cy="1170432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52462" y="2468880"/>
            <a:ext cx="20512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F1F5F9"/>
                </a:solidFill>
                <a:latin typeface="Helvetica Neue"/>
              </a:rPr>
              <a:t>$20–50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2462" y="296265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the weekly amounts people actually send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025" y="2249424"/>
            <a:ext cx="2508427" cy="1170432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62057" y="2468880"/>
            <a:ext cx="20512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93C5FD"/>
                </a:solidFill>
                <a:latin typeface="Helvetica Neue"/>
              </a:rPr>
              <a:t>Soroban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057" y="296265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programmable vault in the payment path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77056"/>
            <a:ext cx="10637215" cy="178308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43000" y="4169664"/>
            <a:ext cx="990569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F1F5F9"/>
                </a:solidFill>
                <a:latin typeface="Helvetica Neue"/>
              </a:rPr>
              <a:t>Migrant workers send $20–50 weekly, not $500 monthly.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>
                <a:solidFill>
                  <a:srgbClr val="94A3B8"/>
                </a:solidFill>
                <a:latin typeface="Helvetica Neue"/>
              </a:rPr>
              <a:t>A 6% fee on a $30 transfer is $1.80 — traditional rails cannot serve that pattern economically, so they price people into sending less often. At $0.00001 per transfer the fee stops mattering, and weekly sending becomes viable. Soroban then adds what a payments rail alone cannot: a programmable vault that intercepts the payment in flight, so saving requires no second app, no second decision, and no second signature.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93C5FD"/>
                </a:solidFill>
                <a:latin typeface="Helvetica Neue"/>
              </a:rPr>
              <a:t>HOW IT IS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F1F5F9"/>
                </a:solidFill>
                <a:latin typeface="Helvetica Neue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Helvetica Neue"/>
              </a:rPr>
              <a:t>Three Rust contracts on Soroban, a Next.js front end, and no custody of user funds at any point.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95144"/>
            <a:ext cx="3411626" cy="214884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33272" y="2551176"/>
            <a:ext cx="289956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34D399"/>
                </a:solidFill>
                <a:latin typeface="Helvetica Neue"/>
              </a:rPr>
              <a:t>auto-split-router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953512"/>
            <a:ext cx="289956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Splits each remittance per the recipient's rule, forwards the spendable part, pushes the rest into the vault, and records lifetime stats. Emits a Routed event that the app reads back for history and analytics.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0034" y="2295144"/>
            <a:ext cx="3411626" cy="214884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46066" y="2551176"/>
            <a:ext cx="289956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93C5FD"/>
                </a:solidFill>
                <a:latin typeface="Helvetica Neue"/>
              </a:rPr>
              <a:t>savings-vault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2953512"/>
            <a:ext cx="289956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Share-based vault. Yield is distributed by raising accounted assets without minting shares, so every holder gains pro rata and later deposits are never diluted. Verifies its own funding before crediting.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2828" y="2295144"/>
            <a:ext cx="3411626" cy="214884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58860" y="2551176"/>
            <a:ext cx="289956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FBBF24"/>
                </a:solidFill>
                <a:latin typeface="Helvetica Neue"/>
              </a:rPr>
              <a:t>remit-token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8860" y="2953512"/>
            <a:ext cx="289956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SEP-41 test stablecoin (rUSDC) with a rate-limited faucet. Balances live in contract storage, so pilot users receive funds with no trustline setup.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745736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4672584"/>
            <a:ext cx="10381183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F1F5F9"/>
                </a:solidFill>
                <a:latin typeface="Helvetica Neue"/>
              </a:rPr>
              <a:t>Non-custodial throughout. </a:t>
            </a:r>
            <a:r>
              <a:rPr sz="1400">
                <a:solidFill>
                  <a:srgbClr val="94A3B8"/>
                </a:solidFill>
                <a:latin typeface="Helvetica Neue"/>
              </a:rPr>
              <a:t>Every state change is signed in the user's own wallet; the app holds no keys.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5367528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5294376"/>
            <a:ext cx="10381183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F1F5F9"/>
                </a:solidFill>
                <a:latin typeface="Helvetica Neue"/>
              </a:rPr>
              <a:t>Read straight from the ledger. </a:t>
            </a:r>
            <a:r>
              <a:rPr sz="1400">
                <a:solidFill>
                  <a:srgbClr val="94A3B8"/>
                </a:solidFill>
                <a:latin typeface="Helvetica Neue"/>
              </a:rPr>
              <a:t>History and analytics are derived from Horizon and contract events, not from an app-side database that can drift from the chain.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598932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916168"/>
            <a:ext cx="10381183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F1F5F9"/>
                </a:solidFill>
                <a:latin typeface="Helvetica Neue"/>
              </a:rPr>
              <a:t>43 contract tests </a:t>
            </a:r>
            <a:r>
              <a:rPr sz="1400">
                <a:solidFill>
                  <a:srgbClr val="94A3B8"/>
                </a:solidFill>
                <a:latin typeface="Helvetica Neue"/>
              </a:rPr>
              <a:t>covering the money-movement paths and their failure modes — rounding solvency, dilution, cross-user isolation, unauthorised credit.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93C5FD"/>
                </a:solidFill>
                <a:latin typeface="Helvetica Neue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F1F5F9"/>
                </a:solidFill>
                <a:latin typeface="Helvetica Neue"/>
              </a:rPr>
              <a:t>Real transactions, independently verifiable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Helvetica Neue"/>
              </a:rPr>
              <a:t>Every figure below is read from the testnet ledger by scripts/proof.mjs. Nothing is hand-entered.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49424"/>
            <a:ext cx="2508427" cy="1170432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33272" y="2468880"/>
            <a:ext cx="20512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F1F5F9"/>
                </a:solidFill>
                <a:latin typeface="Helvetica Neue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96265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wallets with on-chain activity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6835" y="2249424"/>
            <a:ext cx="2508427" cy="1170432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742867" y="2468880"/>
            <a:ext cx="20512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F1F5F9"/>
                </a:solidFill>
                <a:latin typeface="Helvetica Neue"/>
              </a:rPr>
              <a:t>116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2867" y="296265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signed contract operations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0" y="2249424"/>
            <a:ext cx="2508427" cy="1170432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52462" y="2468880"/>
            <a:ext cx="20512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34D399"/>
                </a:solidFill>
                <a:latin typeface="Helvetica Neue"/>
              </a:rPr>
              <a:t>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2462" y="296265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remittances settled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025" y="2249424"/>
            <a:ext cx="2508427" cy="1170432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62057" y="2468880"/>
            <a:ext cx="20512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93C5FD"/>
                </a:solidFill>
                <a:latin typeface="Helvetica Neue"/>
              </a:rPr>
              <a:t>3,522.00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057" y="296265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rUSDC routed through the splitter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03904"/>
            <a:ext cx="3411626" cy="109728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33272" y="4023360"/>
            <a:ext cx="295442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34D399"/>
                </a:solidFill>
                <a:latin typeface="Helvetica Neue"/>
              </a:rPr>
              <a:t>371.20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" y="4517136"/>
            <a:ext cx="295442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rUSDC auto-saved into the vault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90034" y="3803904"/>
            <a:ext cx="3411626" cy="109728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646066" y="4023360"/>
            <a:ext cx="295442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F1F5F9"/>
                </a:solidFill>
                <a:latin typeface="Helvetica Neue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6066" y="4517136"/>
            <a:ext cx="295442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written pilot feedback responses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2828" y="3803904"/>
            <a:ext cx="3411626" cy="109728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58860" y="4023360"/>
            <a:ext cx="295442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F1F5F9"/>
                </a:solidFill>
                <a:latin typeface="Helvetica Neue"/>
              </a:rPr>
              <a:t>22 / 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8860" y="4517136"/>
            <a:ext cx="295442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wallets that transacted, not just registered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212080"/>
            <a:ext cx="10637215" cy="859536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143000" y="5394960"/>
            <a:ext cx="99056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1">
                <a:solidFill>
                  <a:srgbClr val="FBBF24"/>
                </a:solidFill>
                <a:latin typeface="Helvetica Neue"/>
              </a:rPr>
              <a:t>Honest accounting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Helvetica Neue"/>
              </a:rPr>
              <a:t>12 of the 22 wallets are pilot testers; 10 were operated by the author while testing the flow end-to-end. docs/USER_PROOF.md separates the two and does not count builder wallets as users.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Helvetica Neue"/>
              </a:rPr>
              <a:t>Verify any row: docs/USER_PROOF.md → open the account or transaction link on stellar.expert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93C5FD"/>
                </a:solidFill>
                <a:latin typeface="Helvetica Neue"/>
              </a:rPr>
              <a:t>PRODUCT 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F1F5F9"/>
                </a:solidFill>
                <a:latin typeface="Helvetica Neue"/>
              </a:rPr>
              <a:t>What pilot users asked for — and what shipped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Helvetica Neue"/>
              </a:rPr>
              <a:t>Ten written responses. Every item below was reported by a real tester and closed in this release.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9424"/>
            <a:ext cx="4725171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“A dedicated transaction history section where users can view and track their past transactions.”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0699" y="2231136"/>
            <a:ext cx="365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D399"/>
                </a:solidFill>
                <a:latin typeface="Helvetica Neue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7899" y="2249424"/>
            <a:ext cx="543655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F1F5F9"/>
                </a:solidFill>
                <a:latin typeface="Helvetica Neue"/>
              </a:rPr>
              <a:t>New /history page, merging signed operations from Horizon with the router's own settlement events.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871216"/>
            <a:ext cx="10637215" cy="9525"/>
          </a:xfrm>
          <a:prstGeom prst="rect">
            <a:avLst/>
          </a:prstGeom>
          <a:solidFill>
            <a:srgbClr val="2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62656"/>
            <a:ext cx="4725171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“I'm supposed to be seeing the transaction link… I had to fetch it from Freighter.”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0699" y="2944368"/>
            <a:ext cx="365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D399"/>
                </a:solidFill>
                <a:latin typeface="Helvetica Neue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7899" y="2962656"/>
            <a:ext cx="543655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F1F5F9"/>
                </a:solidFill>
                <a:latin typeface="Helvetica Neue"/>
              </a:rPr>
              <a:t>Every send, withdrawal and rule change now returns its hash and links straight to the block explorer.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584448"/>
            <a:ext cx="10637215" cy="9525"/>
          </a:xfrm>
          <a:prstGeom prst="rect">
            <a:avLst/>
          </a:prstGeom>
          <a:solidFill>
            <a:srgbClr val="2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675888"/>
            <a:ext cx="4725171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“The Insights page should display real-time data, the current data appears to be hardcoded.”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20699" y="3657600"/>
            <a:ext cx="365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D399"/>
                </a:solidFill>
                <a:latin typeface="Helvetica Neue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7899" y="3675888"/>
            <a:ext cx="543655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F1F5F9"/>
                </a:solidFill>
                <a:latin typeface="Helvetica Neue"/>
              </a:rPr>
              <a:t>It was reading an ephemeral file that reset on redeploy. Now derived from contract state and settlement events.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97680"/>
            <a:ext cx="10637215" cy="9525"/>
          </a:xfrm>
          <a:prstGeom prst="rect">
            <a:avLst/>
          </a:prstGeom>
          <a:solidFill>
            <a:srgbClr val="2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89120"/>
            <a:ext cx="4725171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“When the session expires, the UI still shows that the account is connected.”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0699" y="4370832"/>
            <a:ext cx="365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D399"/>
                </a:solidFill>
                <a:latin typeface="Helvetica Neue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7899" y="4389120"/>
            <a:ext cx="543655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F1F5F9"/>
                </a:solidFill>
                <a:latin typeface="Helvetica Neue"/>
              </a:rPr>
              <a:t>Sessions are revalidated against the wallet on restore and refocus, and dropped after 30 idle minutes.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010912"/>
            <a:ext cx="10637215" cy="9525"/>
          </a:xfrm>
          <a:prstGeom prst="rect">
            <a:avLst/>
          </a:prstGeom>
          <a:solidFill>
            <a:srgbClr val="2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02352"/>
            <a:ext cx="4725171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“There should be an onboarding feature to guide and introduce new users.”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20699" y="5084064"/>
            <a:ext cx="365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D399"/>
                </a:solidFill>
                <a:latin typeface="Helvetica Neue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7899" y="5102352"/>
            <a:ext cx="543655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F1F5F9"/>
                </a:solidFill>
                <a:latin typeface="Helvetica Neue"/>
              </a:rPr>
              <a:t>A three-card welcome guide plus a checklist that reads its progress from chain state.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724144"/>
            <a:ext cx="10637215" cy="9525"/>
          </a:xfrm>
          <a:prstGeom prst="rect">
            <a:avLst/>
          </a:prstGeom>
          <a:solidFill>
            <a:srgbClr val="2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815584"/>
            <a:ext cx="4725171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“Deployment details such as the contract address should not be exposed in the UI.”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20699" y="5797296"/>
            <a:ext cx="365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D399"/>
                </a:solidFill>
                <a:latin typeface="Helvetica Neue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77899" y="5815584"/>
            <a:ext cx="543655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F1F5F9"/>
                </a:solidFill>
                <a:latin typeface="Helvetica Neue"/>
              </a:rPr>
              <a:t>Removed from Insights; they live in the README and deployments.json.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93C5FD"/>
                </a:solidFill>
                <a:latin typeface="Helvetica Neue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F1F5F9"/>
                </a:solidFill>
                <a:latin typeface="Helvetica Neue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Helvetica Neue"/>
              </a:rPr>
              <a:t>Start where fees hurt most and mobile-money habits already exist.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49424"/>
            <a:ext cx="2508427" cy="1170432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33272" y="2468880"/>
            <a:ext cx="20512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F1F5F9"/>
                </a:solidFill>
                <a:latin typeface="Helvetica Neue"/>
              </a:rPr>
              <a:t>$685B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96265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TAM — global remittances to LMICs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6835" y="2249424"/>
            <a:ext cx="2508427" cy="1170432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742867" y="2468880"/>
            <a:ext cx="20512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93C5FD"/>
                </a:solidFill>
                <a:latin typeface="Helvetica Neue"/>
              </a:rPr>
              <a:t>$54B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2867" y="296265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SAM — remittances into Sub-Saharan Africa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0" y="2249424"/>
            <a:ext cx="2508427" cy="1170432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52462" y="2468880"/>
            <a:ext cx="20512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34D399"/>
                </a:solidFill>
                <a:latin typeface="Helvetica Neue"/>
              </a:rPr>
              <a:t>$20B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2462" y="296265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Nigeria alone, the largest single corridor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025" y="2249424"/>
            <a:ext cx="2508427" cy="1170432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62057" y="2468880"/>
            <a:ext cx="20512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FB7185"/>
                </a:solidFill>
                <a:latin typeface="Helvetica Neue"/>
              </a:rPr>
              <a:t>7.9%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057" y="2962656"/>
            <a:ext cx="20512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average cost to Sub-Saharan Africa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77056"/>
            <a:ext cx="5181447" cy="214884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97280" y="4151376"/>
            <a:ext cx="4541367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1F5F9"/>
                </a:solidFill>
                <a:latin typeface="Helvetica Neue"/>
              </a:rPr>
              <a:t>Beachhead: UK / US → Nigeria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Helvetica Neue"/>
              </a:rPr>
              <a:t>The most expensive major corridor in the world, with high smartphone penetration and an established habit of receiving money digitally. Fee sensitivity is acute and switching costs are low.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3877056"/>
            <a:ext cx="5181447" cy="214884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53047" y="4151376"/>
            <a:ext cx="4541367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1F5F9"/>
                </a:solidFill>
                <a:latin typeface="Helvetica Neue"/>
              </a:rPr>
              <a:t>Why the wedge is savings, not price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Helvetica Neue"/>
              </a:rPr>
              <a:t>Competing on price alone invites a race to zero against funded incumbents. Auto-save changes what the product is: the recipient accumulates a balance, which creates a reason to return that a cheaper transfer never does.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Helvetica Neue"/>
              </a:rPr>
              <a:t>Sources: World Bank KNOMAD Migration and Development Brief; Remittance Prices Worldwide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93C5FD"/>
                </a:solidFill>
                <a:latin typeface="Helvetica Neue"/>
              </a:rPr>
              <a:t>GO TO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F1F5F9"/>
                </a:solidFill>
                <a:latin typeface="Helvetica Neue"/>
              </a:rPr>
              <a:t>Growth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Helvetica Neue"/>
              </a:rPr>
              <a:t>Acquisition through the receiving side, because that is where the product is differentiated.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95144"/>
            <a:ext cx="3411626" cy="22860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33272" y="2532888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2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93C5FD"/>
                </a:solidFill>
                <a:latin typeface="Helvetica Neue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916936"/>
            <a:ext cx="289956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1F5F9"/>
                </a:solidFill>
                <a:latin typeface="Helvetica Neue"/>
              </a:rPr>
              <a:t>Testnet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3319272"/>
            <a:ext cx="289956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Recruit testers through the feedback form and Stellar community channels. Instrument everything; ship against written feedback, as this release does.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0034" y="2295144"/>
            <a:ext cx="3411626" cy="22860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646066" y="2532888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2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3B82F6"/>
                </a:solidFill>
                <a:latin typeface="Helvetica Neue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6066" y="2916936"/>
            <a:ext cx="289956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1F5F9"/>
                </a:solidFill>
                <a:latin typeface="Helvetica Neue"/>
              </a:rPr>
              <a:t>Seeded corridor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6066" y="3319272"/>
            <a:ext cx="289956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One corridor, real value via a SEP-24 anchor. Recruit recipients first — each one brings the person who sends to them.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2828" y="2295144"/>
            <a:ext cx="3411626" cy="22860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258860" y="2532888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2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34D399"/>
                </a:solidFill>
                <a:latin typeface="Helvetica Neue"/>
              </a:rPr>
              <a:t>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8860" y="2916936"/>
            <a:ext cx="289956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1F5F9"/>
                </a:solidFill>
                <a:latin typeface="Helvetica Neue"/>
              </a:rPr>
              <a:t>Compounding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8860" y="3319272"/>
            <a:ext cx="289956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Helvetica Neue"/>
              </a:rPr>
              <a:t>Savings balance becomes the retention mechanic: goals, streaks, and a small credit line against the vault give people a reason to keep receiving through RemitStream.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882896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09744"/>
            <a:ext cx="10381183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F1F5F9"/>
                </a:solidFill>
                <a:latin typeface="Helvetica Neue"/>
              </a:rPr>
              <a:t>Retention metric that matters: </a:t>
            </a:r>
            <a:r>
              <a:rPr sz="1400">
                <a:solidFill>
                  <a:srgbClr val="94A3B8"/>
                </a:solidFill>
                <a:latin typeface="Helvetica Neue"/>
              </a:rPr>
              <a:t>share of recipients with a non-zero vault balance 30 days after their first transfer.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5449824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" y="5376672"/>
            <a:ext cx="10381183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F1F5F9"/>
                </a:solidFill>
                <a:latin typeface="Helvetica Neue"/>
              </a:rPr>
              <a:t>Distribution: </a:t>
            </a:r>
            <a:r>
              <a:rPr sz="1400">
                <a:solidFill>
                  <a:srgbClr val="94A3B8"/>
                </a:solidFill>
                <a:latin typeface="Helvetica Neue"/>
              </a:rPr>
              <a:t>diaspora community groups and hometown associations, where one trusted recipient introduces many senders.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93C5FD"/>
                </a:solidFill>
                <a:latin typeface="Helvetica Neue"/>
              </a:rPr>
              <a:t>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F1F5F9"/>
                </a:solidFill>
                <a:latin typeface="Helvetica Neue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Helvetica Neue"/>
              </a:rPr>
              <a:t>Ordered by what unblocks real money moving through the product.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" y="2432304"/>
            <a:ext cx="18288" cy="3017520"/>
          </a:xfrm>
          <a:prstGeom prst="rect">
            <a:avLst/>
          </a:prstGeom>
          <a:solidFill>
            <a:srgbClr val="2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48716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32304"/>
            <a:ext cx="101800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F1F5F9"/>
                </a:solidFill>
                <a:latin typeface="Helvetica Neue"/>
              </a:rPr>
              <a:t>SEP-24 anchor integration  </a:t>
            </a:r>
            <a:r>
              <a:rPr sz="1250">
                <a:solidFill>
                  <a:srgbClr val="94A3B8"/>
                </a:solidFill>
                <a:latin typeface="Helvetica Neue"/>
              </a:rPr>
              <a:t>Real fiat on and off ramp, so the corridor carries actual value instead of test tokens.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3054096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999232"/>
            <a:ext cx="101800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F1F5F9"/>
                </a:solidFill>
                <a:latin typeface="Helvetica Neue"/>
              </a:rPr>
              <a:t>Live yield via Blend  </a:t>
            </a:r>
            <a:r>
              <a:rPr sz="1250">
                <a:solidFill>
                  <a:srgbClr val="94A3B8"/>
                </a:solidFill>
                <a:latin typeface="Helvetica Neue"/>
              </a:rPr>
              <a:t>Replace manual accrual with a real Stellar lending market, so vault balances earn without intervention.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3621024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566160"/>
            <a:ext cx="101800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F1F5F9"/>
                </a:solidFill>
                <a:latin typeface="Helvetica Neue"/>
              </a:rPr>
              <a:t>Path payments  </a:t>
            </a:r>
            <a:r>
              <a:rPr sz="1250">
                <a:solidFill>
                  <a:srgbClr val="94A3B8"/>
                </a:solidFill>
                <a:latin typeface="Helvetica Neue"/>
              </a:rPr>
              <a:t>Sender pays in their currency, recipient receives in theirs, atomically in one transaction.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4187952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4133088"/>
            <a:ext cx="101800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F1F5F9"/>
                </a:solidFill>
                <a:latin typeface="Helvetica Neue"/>
              </a:rPr>
              <a:t>Savings goals and recurring sends  </a:t>
            </a:r>
            <a:r>
              <a:rPr sz="1250">
                <a:solidFill>
                  <a:srgbClr val="94A3B8"/>
                </a:solidFill>
                <a:latin typeface="Helvetica Neue"/>
              </a:rPr>
              <a:t>“School fees by September.” Goals are the retention mechanic the vault makes possible.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4754880"/>
            <a:ext cx="146304" cy="14630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700016"/>
            <a:ext cx="101800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F1F5F9"/>
                </a:solidFill>
                <a:latin typeface="Helvetica Neue"/>
              </a:rPr>
              <a:t>Multi-asset support  </a:t>
            </a:r>
            <a:r>
              <a:rPr sz="1250">
                <a:solidFill>
                  <a:srgbClr val="94A3B8"/>
                </a:solidFill>
                <a:latin typeface="Helvetica Neue"/>
              </a:rPr>
              <a:t>Requested by pilot users — accept XLM and other Stellar assets, not just rUSDC.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5321808"/>
            <a:ext cx="146304" cy="14630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5266944"/>
            <a:ext cx="101800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F1F5F9"/>
                </a:solidFill>
                <a:latin typeface="Helvetica Neue"/>
              </a:rPr>
              <a:t>Credit line against vault balance  </a:t>
            </a:r>
            <a:r>
              <a:rPr sz="1250">
                <a:solidFill>
                  <a:srgbClr val="94A3B8"/>
                </a:solidFill>
                <a:latin typeface="Helvetica Neue"/>
              </a:rPr>
              <a:t>Small advances secured by savings, the first product that is not a transfer.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840480" y="3108960"/>
            <a:ext cx="8686800" cy="8686800"/>
          </a:xfrm>
          <a:prstGeom prst="ellipse">
            <a:avLst/>
          </a:prstGeom>
          <a:solidFill>
            <a:srgbClr val="11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2412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3200" b="1">
                <a:solidFill>
                  <a:srgbClr val="F1F5F9"/>
                </a:solidFill>
                <a:latin typeface="Helvetica Neue"/>
              </a:rPr>
              <a:t>The transfer is the product everyone competes on.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200" b="1">
                <a:solidFill>
                  <a:srgbClr val="93C5FD"/>
                </a:solidFill>
                <a:latin typeface="Helvetica Neue"/>
              </a:rPr>
              <a:t>What happens to the money afterwards is the product nobody is building.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605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Helvetica Neue"/>
              </a:rPr>
              <a:t>Live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4160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F1F5F9"/>
                </a:solidFill>
                <a:latin typeface="Helvetica Neue"/>
              </a:rPr>
              <a:t>remit-stream.vercel.app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177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Helvetica Neue"/>
              </a:rPr>
              <a:t>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617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F1F5F9"/>
                </a:solidFill>
                <a:latin typeface="Helvetica Neue"/>
              </a:rPr>
              <a:t>github.com/RemitStream/remitStream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749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Helvetica Neue"/>
              </a:rPr>
              <a:t>On-chain proof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5074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F1F5F9"/>
                </a:solidFill>
                <a:latin typeface="Helvetica Neue"/>
              </a:rPr>
              <a:t>docs/USER_PROOF.md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5321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Helvetica Neue"/>
              </a:rPr>
              <a:t>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55321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F1F5F9"/>
                </a:solidFill>
                <a:latin typeface="Helvetica Neue"/>
              </a:rPr>
              <a:t>Stellar Testnet · 43 contract tests passing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